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Interstate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Digital Infrastructure Platform</a:t>
            </a:r>
          </a:p>
          <a:p>
            <a:r>
              <a:t>DOT Corridor Communicator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AASHTO Innovation Forum | OST-R Interstate 2.0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Capabilities: Platform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🚗 Connected Vehicle (CV-2X)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33333"/>
                </a:solidFill>
              </a:defRPr>
            </a:pPr>
            <a:r>
              <a:t>• USDOT V2X deployment integration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Operational RSU tracking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Planned deployment visibility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Federal data synchronization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🚧 Work Zone Data Exchange (WZDx)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33333"/>
                </a:solidFill>
              </a:defRPr>
            </a:pPr>
            <a:r>
              <a:t>• Real-time work zone feeds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WZDx format compliance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State DOT WFS integration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FHWA ARNOLD enrichment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393192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🚛 Truck Parking &amp; Freight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33333"/>
                </a:solidFill>
              </a:defRPr>
            </a:pPr>
            <a:r>
              <a:t>• Real-time parking availability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Freight route optimization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TTTR metrics tracking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Interstate corridor 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657600"/>
            <a:ext cx="393192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74904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🏗️ Digital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206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33333"/>
                </a:solidFill>
              </a:defRPr>
            </a:pPr>
            <a:r>
              <a:t>• IFC model processing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CADD file extraction (DXF/DWG/DGN)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Digital twin cataloging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BIM-to-GIS conversion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Capabilities: 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99"/>
                </a:solidFill>
              </a:defRPr>
            </a:pPr>
            <a:r>
              <a:t>Multi-Source Data Aggregation</a:t>
            </a:r>
          </a:p>
          <a:p>
            <a:pPr>
              <a:spcAft>
                <a:spcPts val="600"/>
              </a:spcAft>
              <a:defRPr sz="1200"/>
            </a:pPr>
            <a:r>
              <a:t>🔹 511 Systems: Real-time traffic incidents</a:t>
            </a:r>
          </a:p>
          <a:p>
            <a:pPr>
              <a:spcAft>
                <a:spcPts val="600"/>
              </a:spcAft>
              <a:defRPr sz="1200"/>
            </a:pPr>
            <a:r>
              <a:t>🔹 State DOT Services: WFS/WMS official geometries</a:t>
            </a:r>
          </a:p>
          <a:p>
            <a:pPr>
              <a:spcAft>
                <a:spcPts val="600"/>
              </a:spcAft>
              <a:defRPr sz="1200"/>
            </a:pPr>
            <a:r>
              <a:t>🔹 USDOT V2X: Federal deployment data</a:t>
            </a:r>
          </a:p>
          <a:p>
            <a:pPr>
              <a:spcAft>
                <a:spcPts val="600"/>
              </a:spcAft>
              <a:defRPr sz="1200"/>
            </a:pPr>
            <a:r>
              <a:t>🔹 FHWA ARNOLD: National road network</a:t>
            </a:r>
          </a:p>
          <a:p>
            <a:pPr>
              <a:spcAft>
                <a:spcPts val="600"/>
              </a:spcAft>
              <a:defRPr sz="1200"/>
            </a:pPr>
            <a:r>
              <a:t>🔹 Census &amp; LandScan: Population analytics</a:t>
            </a:r>
          </a:p>
          <a:p>
            <a:pPr>
              <a:spcAft>
                <a:spcPts val="600"/>
              </a:spcAft>
              <a:defRPr sz="1200"/>
            </a:pPr>
            <a:r>
              <a:t>🔹 IPAWS: Emergency alerts</a:t>
            </a:r>
          </a:p>
          <a:p>
            <a:pPr>
              <a:spcAft>
                <a:spcPts val="600"/>
              </a:spcAft>
              <a:defRPr sz="1200"/>
            </a:pPr>
            <a:r>
              <a:t>🔹 Weather &amp; Traffic: Private sector feeds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99"/>
                </a:solidFill>
              </a:defRPr>
            </a:pPr>
            <a:r>
              <a:t>Interoperability Standards</a:t>
            </a:r>
          </a:p>
          <a:p>
            <a:pPr>
              <a:spcAft>
                <a:spcPts val="800"/>
              </a:spcAft>
              <a:defRPr sz="1400"/>
            </a:pPr>
            <a:r>
              <a:t>✓ GeoJSON/GIS Compatibility</a:t>
            </a:r>
          </a:p>
          <a:p>
            <a:pPr>
              <a:spcAft>
                <a:spcPts val="800"/>
              </a:spcAft>
              <a:defRPr sz="1400"/>
            </a:pPr>
            <a:r>
              <a:t>✓ WZDx Specification Compliance</a:t>
            </a:r>
          </a:p>
          <a:p>
            <a:pPr>
              <a:spcAft>
                <a:spcPts val="800"/>
              </a:spcAft>
              <a:defRPr sz="1400"/>
            </a:pPr>
            <a:r>
              <a:t>✓ TMDD Alignment</a:t>
            </a:r>
          </a:p>
          <a:p>
            <a:pPr>
              <a:spcAft>
                <a:spcPts val="800"/>
              </a:spcAft>
              <a:defRPr sz="1400"/>
            </a:pPr>
            <a:r>
              <a:t>✓ NTCIP Support</a:t>
            </a:r>
          </a:p>
          <a:p>
            <a:pPr>
              <a:spcAft>
                <a:spcPts val="800"/>
              </a:spcAft>
              <a:defRPr sz="1400"/>
            </a:pPr>
            <a:r>
              <a:t>✓ Open API Architecture</a:t>
            </a:r>
          </a:p>
          <a:p>
            <a:pPr>
              <a:spcAft>
                <a:spcPts val="800"/>
              </a:spcAft>
              <a:defRPr sz="1400"/>
            </a:pPr>
            <a:r>
              <a:t>✓ Real-time WebSocket Feeds</a:t>
            </a:r>
          </a:p>
          <a:p>
            <a:pPr>
              <a:spcAft>
                <a:spcPts val="800"/>
              </a:spcAft>
              <a:defRPr sz="1400"/>
            </a:pPr>
            <a:r>
              <a:t>✓ RESTful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Performance: Key Metrics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Operational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/>
            </a:pPr>
            <a:r>
              <a:t>⚡ Real-time updates (30-60s)</a:t>
            </a:r>
          </a:p>
          <a:p>
            <a:pPr>
              <a:spcAft>
                <a:spcPts val="800"/>
              </a:spcAft>
              <a:defRPr sz="1100"/>
            </a:pPr>
            <a:r>
              <a:t>🗺️ Multi-state coverage</a:t>
            </a:r>
          </a:p>
          <a:p>
            <a:pPr>
              <a:spcAft>
                <a:spcPts val="800"/>
              </a:spcAft>
              <a:defRPr sz="1100"/>
            </a:pPr>
            <a:r>
              <a:t>📡 Nationwide V2X tracking</a:t>
            </a:r>
          </a:p>
          <a:p>
            <a:pPr>
              <a:spcAft>
                <a:spcPts val="800"/>
              </a:spcAft>
              <a:defRPr sz="1100"/>
            </a:pPr>
            <a:r>
              <a:t>🚧 Active work zone monitoring</a:t>
            </a:r>
          </a:p>
          <a:p>
            <a:pPr>
              <a:spcAft>
                <a:spcPts val="800"/>
              </a:spcAft>
              <a:defRPr sz="1100"/>
            </a:pPr>
            <a:r>
              <a:t>👥 Population impact analysis</a:t>
            </a:r>
          </a:p>
          <a:p>
            <a:pPr>
              <a:spcAft>
                <a:spcPts val="800"/>
              </a:spcAft>
              <a:defRPr sz="1100"/>
            </a:pPr>
            <a:r>
              <a:t>🏗️ 95%+ model extraction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Available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544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/>
            </a:pPr>
            <a:r>
              <a:t>📊 TTTR (Truck Travel Time Reliability)</a:t>
            </a:r>
          </a:p>
          <a:p>
            <a:pPr>
              <a:spcAft>
                <a:spcPts val="800"/>
              </a:spcAft>
              <a:defRPr sz="1100"/>
            </a:pPr>
            <a:r>
              <a:t>🚛 Freight impact analysis</a:t>
            </a:r>
          </a:p>
          <a:p>
            <a:pPr>
              <a:spcAft>
                <a:spcPts val="800"/>
              </a:spcAft>
              <a:defRPr sz="1100"/>
            </a:pPr>
            <a:r>
              <a:t>🎯 Corridor bottleneck identification</a:t>
            </a:r>
          </a:p>
          <a:p>
            <a:pPr>
              <a:spcAft>
                <a:spcPts val="800"/>
              </a:spcAft>
              <a:defRPr sz="1100"/>
            </a:pPr>
            <a:r>
              <a:t>📈 Real-time vs. historical trends</a:t>
            </a:r>
          </a:p>
          <a:p>
            <a:pPr>
              <a:spcAft>
                <a:spcPts val="800"/>
              </a:spcAft>
              <a:defRPr sz="1100"/>
            </a:pPr>
            <a:r>
              <a:t>🌍 Population density (LandScan HD)</a:t>
            </a:r>
          </a:p>
          <a:p>
            <a:pPr>
              <a:spcAft>
                <a:spcPts val="800"/>
              </a:spcAft>
              <a:defRPr sz="1100"/>
            </a:pPr>
            <a:r>
              <a:t>🚨 Emergency alert geofencing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System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/>
            </a:pPr>
            <a:r>
              <a:t>✅ 99.9% uptime</a:t>
            </a:r>
          </a:p>
          <a:p>
            <a:pPr>
              <a:spcAft>
                <a:spcPts val="800"/>
              </a:spcAft>
              <a:defRPr sz="1100"/>
            </a:pPr>
            <a:r>
              <a:t>⚡ Sub-second query response</a:t>
            </a:r>
          </a:p>
          <a:p>
            <a:pPr>
              <a:spcAft>
                <a:spcPts val="800"/>
              </a:spcAft>
              <a:defRPr sz="1100"/>
            </a:pPr>
            <a:r>
              <a:t>☁️ Scalable cloud infrastructure</a:t>
            </a:r>
          </a:p>
          <a:p>
            <a:pPr>
              <a:spcAft>
                <a:spcPts val="800"/>
              </a:spcAft>
              <a:defRPr sz="1100"/>
            </a:pPr>
            <a:r>
              <a:t>🔄 Auto-scaling enabled</a:t>
            </a:r>
          </a:p>
          <a:p>
            <a:pPr>
              <a:spcAft>
                <a:spcPts val="800"/>
              </a:spcAft>
              <a:defRPr sz="1100"/>
            </a:pPr>
            <a:r>
              <a:t>💾 Real-time data persistence</a:t>
            </a:r>
          </a:p>
          <a:p>
            <a:pPr>
              <a:spcAft>
                <a:spcPts val="800"/>
              </a:spcAft>
              <a:defRPr sz="1100"/>
            </a:pPr>
            <a:r>
              <a:t>🔐 Secure API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Processes: Procurement &amp;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1. Data Procurement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/>
            </a:pPr>
            <a:r>
              <a:t>• Open-source framework (Node.js + React)</a:t>
            </a:r>
          </a:p>
          <a:p>
            <a:pPr>
              <a:spcAft>
                <a:spcPts val="400"/>
              </a:spcAft>
              <a:defRPr sz="1000"/>
            </a:pPr>
            <a:r>
              <a:t>• Free/low-cost federal data sources</a:t>
            </a:r>
          </a:p>
          <a:p>
            <a:pPr>
              <a:spcAft>
                <a:spcPts val="400"/>
              </a:spcAft>
              <a:defRPr sz="1000"/>
            </a:pPr>
            <a:r>
              <a:t>• Minimal licensing costs</a:t>
            </a:r>
          </a:p>
          <a:p>
            <a:pPr>
              <a:spcAft>
                <a:spcPts val="400"/>
              </a:spcAft>
              <a:defRPr sz="1000"/>
            </a:pPr>
            <a:r>
              <a:t>• API-first extensible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2. System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544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/>
            </a:pPr>
            <a:r>
              <a:t>• Cloud-native auto-scaling deployment</a:t>
            </a:r>
          </a:p>
          <a:p>
            <a:pPr>
              <a:spcAft>
                <a:spcPts val="400"/>
              </a:spcAft>
              <a:defRPr sz="1000"/>
            </a:pPr>
            <a:r>
              <a:t>• SQLite (dev) / PostgreSQL (production)</a:t>
            </a:r>
          </a:p>
          <a:p>
            <a:pPr>
              <a:spcAft>
                <a:spcPts val="400"/>
              </a:spcAft>
              <a:defRPr sz="1000"/>
            </a:pPr>
            <a:r>
              <a:t>• Automated geometry correction pipelines</a:t>
            </a:r>
          </a:p>
          <a:p>
            <a:pPr>
              <a:spcAft>
                <a:spcPts val="400"/>
              </a:spcAft>
              <a:defRPr sz="1000"/>
            </a:pPr>
            <a:r>
              <a:t>• Continuous integration/deployment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3. Third-Party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/>
            </a:pPr>
            <a:r>
              <a:t>• OSRM: Route optimization</a:t>
            </a:r>
          </a:p>
          <a:p>
            <a:pPr>
              <a:spcAft>
                <a:spcPts val="400"/>
              </a:spcAft>
              <a:defRPr sz="1000"/>
            </a:pPr>
            <a:r>
              <a:t>• Iowa DOT WFS: Geometry validation</a:t>
            </a:r>
          </a:p>
          <a:p>
            <a:pPr>
              <a:spcAft>
                <a:spcPts val="400"/>
              </a:spcAft>
              <a:defRPr sz="1000"/>
            </a:pPr>
            <a:r>
              <a:t>• FHWA ARNOLD: Road network enrichment</a:t>
            </a:r>
          </a:p>
          <a:p>
            <a:pPr>
              <a:spcAft>
                <a:spcPts val="400"/>
              </a:spcAft>
              <a:defRPr sz="1000"/>
            </a:pPr>
            <a:r>
              <a:t>• Grants.gov API: Funding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383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4. Data Quality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84048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/>
            </a:pPr>
            <a:r>
              <a:t>• Multi-source geometry validation</a:t>
            </a:r>
          </a:p>
          <a:p>
            <a:pPr>
              <a:spcAft>
                <a:spcPts val="400"/>
              </a:spcAft>
              <a:defRPr sz="1000"/>
            </a:pPr>
            <a:r>
              <a:t>• Automated correction workflows</a:t>
            </a:r>
          </a:p>
          <a:p>
            <a:pPr>
              <a:spcAft>
                <a:spcPts val="400"/>
              </a:spcAft>
              <a:defRPr sz="1000"/>
            </a:pPr>
            <a:r>
              <a:t>• Invalid geometry filtering</a:t>
            </a:r>
          </a:p>
          <a:p>
            <a:pPr>
              <a:spcAft>
                <a:spcPts val="400"/>
              </a:spcAft>
              <a:defRPr sz="1000"/>
            </a:pPr>
            <a:r>
              <a:t>• Real-time quality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Processes: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3399"/>
                </a:solidFill>
              </a:defRPr>
            </a:pPr>
            <a:r>
              <a:t>Key Process Flows:</a:t>
            </a:r>
          </a:p>
          <a:p>
            <a:pPr>
              <a:spcAft>
                <a:spcPts val="600"/>
              </a:spcAft>
              <a:defRPr sz="1100" b="1">
                <a:solidFill>
                  <a:srgbClr val="333333"/>
                </a:solidFill>
              </a:defRPr>
            </a:pPr>
            <a:r>
              <a:t>Incident Detection → Enrichment → Distribution</a:t>
            </a:r>
          </a:p>
          <a:p>
            <a:pPr>
              <a:spcAft>
                <a:spcPts val="600"/>
              </a:spcAft>
              <a:defRPr sz="1100" b="1">
                <a:solidFill>
                  <a:srgbClr val="333333"/>
                </a:solidFill>
              </a:defRPr>
            </a:pPr>
            <a:r>
              <a:t>  511 Feed → Geometry Validation → Population Impact → Alert Generation → Notification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  <a:defRPr sz="1300" b="1">
                <a:solidFill>
                  <a:srgbClr val="DC3545"/>
                </a:solidFill>
              </a:defRPr>
            </a:pPr>
            <a:r>
              <a:t>Digital Model Processing</a:t>
            </a:r>
          </a:p>
          <a:p>
            <a:pPr>
              <a:spcAft>
                <a:spcPts val="600"/>
              </a:spcAft>
              <a:defRPr sz="1100" b="1">
                <a:solidFill>
                  <a:srgbClr val="333333"/>
                </a:solidFill>
              </a:defRPr>
            </a:pPr>
            <a:r>
              <a:t>  IFC/CADD Upload → Automated Parsing → Element Classification → GIS Export → Catalog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  <a:defRPr sz="1300" b="1">
                <a:solidFill>
                  <a:srgbClr val="DC3545"/>
                </a:solidFill>
              </a:defRPr>
            </a:pPr>
            <a:r>
              <a:t>V2X Deployment Tracking</a:t>
            </a:r>
          </a:p>
          <a:p>
            <a:pPr>
              <a:spcAft>
                <a:spcPts val="600"/>
              </a:spcAft>
              <a:defRPr sz="1100" b="1">
                <a:solidFill>
                  <a:srgbClr val="333333"/>
                </a:solidFill>
              </a:defRPr>
            </a:pPr>
            <a:r>
              <a:t>  Federal Data Sync → State Filtering → Map Visualization → Gap Analysis → Planning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  <a:defRPr sz="1300" b="1">
                <a:solidFill>
                  <a:srgbClr val="DC3545"/>
                </a:solidFill>
              </a:defRPr>
            </a:pPr>
            <a:r>
              <a:t>Work Zone Data Exchange</a:t>
            </a:r>
          </a:p>
          <a:p>
            <a:pPr>
              <a:spcAft>
                <a:spcPts val="600"/>
              </a:spcAft>
              <a:defRPr sz="1100" b="1">
                <a:solidFill>
                  <a:srgbClr val="333333"/>
                </a:solidFill>
              </a:defRPr>
            </a:pPr>
            <a:r>
              <a:t>  State DOT Feed → WZDx Standardization → Geometry Correction → Interstate Alignment → Freight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Constraints: Limitations &amp;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2011680"/>
          </a:xfrm>
          <a:prstGeom prst="rect">
            <a:avLst/>
          </a:prstGeom>
          <a:solidFill>
            <a:srgbClr val="FF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Statutory &amp; Regulatory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/>
            </a:pPr>
            <a:r>
              <a:t>⚠️ Data privacy &amp; PII restrictions</a:t>
            </a:r>
          </a:p>
          <a:p>
            <a:pPr>
              <a:spcAft>
                <a:spcPts val="300"/>
              </a:spcAft>
              <a:defRPr sz="1000"/>
            </a:pPr>
            <a:r>
              <a:t>⚠️ Public records vs. security</a:t>
            </a:r>
          </a:p>
          <a:p>
            <a:pPr>
              <a:spcAft>
                <a:spcPts val="300"/>
              </a:spcAft>
              <a:defRPr sz="1000"/>
            </a:pPr>
            <a:r>
              <a:t>⚠️ State procurement processes</a:t>
            </a:r>
          </a:p>
          <a:p>
            <a:pPr>
              <a:spcAft>
                <a:spcPts val="300"/>
              </a:spcAft>
              <a:defRPr sz="1000"/>
            </a:pPr>
            <a:r>
              <a:t>⚠️ Variable WZDx adoption timelines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97280"/>
            <a:ext cx="3931920" cy="2011680"/>
          </a:xfrm>
          <a:prstGeom prst="rect">
            <a:avLst/>
          </a:prstGeom>
          <a:solidFill>
            <a:srgbClr val="FF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Financial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/>
            </a:pPr>
            <a:r>
              <a:t>⚠️ Limited ITS budgets</a:t>
            </a:r>
          </a:p>
          <a:p>
            <a:pPr>
              <a:spcAft>
                <a:spcPts val="300"/>
              </a:spcAft>
              <a:defRPr sz="1000"/>
            </a:pPr>
            <a:r>
              <a:t>⚠️ Grant dependencies (INFRA/BUILD)</a:t>
            </a:r>
          </a:p>
          <a:p>
            <a:pPr>
              <a:spcAft>
                <a:spcPts val="300"/>
              </a:spcAft>
              <a:defRPr sz="1000"/>
            </a:pPr>
            <a:r>
              <a:t>⚠️ Ongoing maintenance costs</a:t>
            </a:r>
          </a:p>
          <a:p>
            <a:pPr>
              <a:spcAft>
                <a:spcPts val="300"/>
              </a:spcAft>
              <a:defRPr sz="1000"/>
            </a:pPr>
            <a:r>
              <a:t>⚠️ Limited staffing resources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3931920" cy="2011680"/>
          </a:xfrm>
          <a:prstGeom prst="rect">
            <a:avLst/>
          </a:prstGeom>
          <a:solidFill>
            <a:srgbClr val="FF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/>
            </a:pPr>
            <a:r>
              <a:t>⚠️ Data quality variability</a:t>
            </a:r>
          </a:p>
          <a:p>
            <a:pPr>
              <a:spcAft>
                <a:spcPts val="300"/>
              </a:spcAft>
              <a:defRPr sz="1000"/>
            </a:pPr>
            <a:r>
              <a:t>⚠️ Multi-state coordination challenges</a:t>
            </a:r>
          </a:p>
          <a:p>
            <a:pPr>
              <a:spcAft>
                <a:spcPts val="300"/>
              </a:spcAft>
              <a:defRPr sz="1000"/>
            </a:pPr>
            <a:r>
              <a:t>⚠️ Legacy system integration</a:t>
            </a:r>
          </a:p>
          <a:p>
            <a:pPr>
              <a:spcAft>
                <a:spcPts val="300"/>
              </a:spcAft>
              <a:defRPr sz="1000"/>
            </a:pPr>
            <a:r>
              <a:t>⚠️ CADD georeferencing gaps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383280"/>
            <a:ext cx="3931920" cy="2011680"/>
          </a:xfrm>
          <a:prstGeom prst="rect">
            <a:avLst/>
          </a:prstGeom>
          <a:solidFill>
            <a:srgbClr val="FF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3545"/>
                </a:solidFill>
              </a:defRPr>
            </a:pPr>
            <a:r>
              <a:t>Technical/Resource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319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00"/>
            </a:pPr>
            <a:r>
              <a:t>⚠️ Coordinate system conversions</a:t>
            </a:r>
          </a:p>
          <a:p>
            <a:pPr>
              <a:spcAft>
                <a:spcPts val="300"/>
              </a:spcAft>
              <a:defRPr sz="1000"/>
            </a:pPr>
            <a:r>
              <a:t>⚠️ Real-time processing demands</a:t>
            </a:r>
          </a:p>
          <a:p>
            <a:pPr>
              <a:spcAft>
                <a:spcPts val="300"/>
              </a:spcAft>
              <a:defRPr sz="1000"/>
            </a:pPr>
            <a:r>
              <a:t>⚠️ Historical data storage at scale</a:t>
            </a:r>
          </a:p>
          <a:p>
            <a:pPr>
              <a:spcAft>
                <a:spcPts val="300"/>
              </a:spcAft>
              <a:defRPr sz="1000"/>
            </a:pPr>
            <a:r>
              <a:t>⚠️ Rural connectivity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Stakeholder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03399"/>
                </a:solidFill>
              </a:defRPr>
            </a:pPr>
            <a:r>
              <a:t>🔹 State DOT Leadership</a:t>
            </a:r>
          </a:p>
          <a:p>
            <a:pPr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   Strategic direction, budget allocation, interstate collaboration</a:t>
            </a:r>
          </a:p>
          <a:p>
            <a:pPr>
              <a:spcAft>
                <a:spcPts val="200"/>
              </a:spcAft>
              <a:defRPr sz="1300" b="1">
                <a:solidFill>
                  <a:srgbClr val="003399"/>
                </a:solidFill>
              </a:defRPr>
            </a:pPr>
            <a:r>
              <a:t>🔹 Traffic Operations Centers</a:t>
            </a:r>
          </a:p>
          <a:p>
            <a:pPr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   Day-to-day operations, real-time data usage, system feedback</a:t>
            </a:r>
          </a:p>
          <a:p>
            <a:pPr>
              <a:spcAft>
                <a:spcPts val="200"/>
              </a:spcAft>
              <a:defRPr sz="1300" b="1">
                <a:solidFill>
                  <a:srgbClr val="003399"/>
                </a:solidFill>
              </a:defRPr>
            </a:pPr>
            <a:r>
              <a:t>🔹 Freight Industry</a:t>
            </a:r>
          </a:p>
          <a:p>
            <a:pPr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   Demand drivers, private data contributors, V2X adoption</a:t>
            </a:r>
          </a:p>
          <a:p>
            <a:pPr>
              <a:spcAft>
                <a:spcPts val="200"/>
              </a:spcAft>
              <a:defRPr sz="1300" b="1">
                <a:solidFill>
                  <a:srgbClr val="003399"/>
                </a:solidFill>
              </a:defRPr>
            </a:pPr>
            <a:r>
              <a:t>🔹 Federal Partners (FHWA/OST-R)</a:t>
            </a:r>
          </a:p>
          <a:p>
            <a:pPr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   Standards, funding, research, national architecture</a:t>
            </a:r>
          </a:p>
          <a:p>
            <a:pPr>
              <a:spcAft>
                <a:spcPts val="200"/>
              </a:spcAft>
              <a:defRPr sz="1300" b="1">
                <a:solidFill>
                  <a:srgbClr val="003399"/>
                </a:solidFill>
              </a:defRPr>
            </a:pPr>
            <a:r>
              <a:t>🔹 Technology Vendors</a:t>
            </a:r>
          </a:p>
          <a:p>
            <a:pPr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   RSU deployment, ATMS integration, innovation partnerships</a:t>
            </a:r>
          </a:p>
          <a:p>
            <a:pPr>
              <a:spcAft>
                <a:spcPts val="200"/>
              </a:spcAft>
              <a:defRPr sz="1300" b="1">
                <a:solidFill>
                  <a:srgbClr val="003399"/>
                </a:solidFill>
              </a:defRPr>
            </a:pPr>
            <a:r>
              <a:t>🔹 Emergency Management</a:t>
            </a:r>
          </a:p>
          <a:p>
            <a:pPr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   IPAWS integration, public safety, incident coordination</a:t>
            </a:r>
          </a:p>
          <a:p>
            <a:pPr>
              <a:spcAft>
                <a:spcPts val="200"/>
              </a:spcAft>
              <a:defRPr sz="1300" b="1">
                <a:solidFill>
                  <a:srgbClr val="003399"/>
                </a:solidFill>
              </a:defRPr>
            </a:pPr>
            <a:r>
              <a:t>🔹 MPOs</a:t>
            </a:r>
          </a:p>
          <a:p>
            <a:pPr>
              <a:spcAft>
                <a:spcPts val="1000"/>
              </a:spcAft>
              <a:defRPr sz="1100">
                <a:solidFill>
                  <a:srgbClr val="333333"/>
                </a:solidFill>
              </a:defRPr>
            </a:pPr>
            <a:r>
              <a:t>   Regional planning, mobility analytics, infrastructure coordination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Gap Analysis: Path to Interstate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08000"/>
                </a:solidFill>
              </a:defRPr>
            </a:pPr>
            <a:r>
              <a:t>✅ What We Have</a:t>
            </a:r>
          </a:p>
          <a:p>
            <a:pPr>
              <a:spcAft>
                <a:spcPts val="600"/>
              </a:spcAft>
              <a:defRPr sz="1200"/>
            </a:pPr>
            <a:r>
              <a:t>✓ Multi-state incident tracking</a:t>
            </a:r>
          </a:p>
          <a:p>
            <a:pPr>
              <a:spcAft>
                <a:spcPts val="600"/>
              </a:spcAft>
              <a:defRPr sz="1200"/>
            </a:pPr>
            <a:r>
              <a:t>✓ V2X deployment visibility</a:t>
            </a:r>
          </a:p>
          <a:p>
            <a:pPr>
              <a:spcAft>
                <a:spcPts val="600"/>
              </a:spcAft>
              <a:defRPr sz="1200"/>
            </a:pPr>
            <a:r>
              <a:t>✓ Work zone data exchange</a:t>
            </a:r>
          </a:p>
          <a:p>
            <a:pPr>
              <a:spcAft>
                <a:spcPts val="600"/>
              </a:spcAft>
              <a:defRPr sz="1200"/>
            </a:pPr>
            <a:r>
              <a:t>✓ Digital infrastructure cataloging</a:t>
            </a:r>
          </a:p>
          <a:p>
            <a:pPr>
              <a:spcAft>
                <a:spcPts val="600"/>
              </a:spcAft>
              <a:defRPr sz="1200"/>
            </a:pPr>
            <a:r>
              <a:t>✓ Population impact analytics</a:t>
            </a:r>
          </a:p>
          <a:p>
            <a:pPr>
              <a:spcAft>
                <a:spcPts val="600"/>
              </a:spcAft>
              <a:defRPr sz="1200"/>
            </a:pPr>
            <a:r>
              <a:t>✓ Freight TTTR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C3545"/>
                </a:solidFill>
              </a:defRPr>
            </a:pPr>
            <a:r>
              <a:t>❌ Gaps to Interstate 2.0</a:t>
            </a:r>
          </a:p>
          <a:p>
            <a:pPr>
              <a:spcAft>
                <a:spcPts val="600"/>
              </a:spcAft>
              <a:defRPr sz="1200"/>
            </a:pPr>
            <a:r>
              <a:t>⚠️ Continuous corridor V2X coverage</a:t>
            </a:r>
          </a:p>
          <a:p>
            <a:pPr>
              <a:spcAft>
                <a:spcPts val="600"/>
              </a:spcAft>
              <a:defRPr sz="1200"/>
            </a:pPr>
            <a:r>
              <a:t>⚠️ Bi-directional state data sharing</a:t>
            </a:r>
          </a:p>
          <a:p>
            <a:pPr>
              <a:spcAft>
                <a:spcPts val="600"/>
              </a:spcAft>
              <a:defRPr sz="1200"/>
            </a:pPr>
            <a:r>
              <a:t>⚠️ Standardized interstate APIs</a:t>
            </a:r>
          </a:p>
          <a:p>
            <a:pPr>
              <a:spcAft>
                <a:spcPts val="600"/>
              </a:spcAft>
              <a:defRPr sz="1200"/>
            </a:pPr>
            <a:r>
              <a:t>⚠️ Autonomous vehicle readiness (HD maps)</a:t>
            </a:r>
          </a:p>
          <a:p>
            <a:pPr>
              <a:spcAft>
                <a:spcPts val="600"/>
              </a:spcAft>
              <a:defRPr sz="1200"/>
            </a:pPr>
            <a:r>
              <a:t>⚠️ AI-driven predictive analytics</a:t>
            </a:r>
          </a:p>
          <a:p>
            <a:pPr>
              <a:spcAft>
                <a:spcPts val="600"/>
              </a:spcAft>
              <a:defRPr sz="1200"/>
            </a:pPr>
            <a:r>
              <a:t>⚠️ Cybersecurity framework</a:t>
            </a:r>
          </a:p>
          <a:p>
            <a:pPr>
              <a:spcAft>
                <a:spcPts val="600"/>
              </a:spcAft>
              <a:defRPr sz="1200"/>
            </a:pPr>
            <a:r>
              <a:t>⚠️ Private sector integration standards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99"/>
                </a:solidFill>
              </a:defRPr>
            </a:pPr>
            <a:r>
              <a:t>Immediate (0-6 months)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▸ Mandate WZDx 4.0+ compliance across states</a:t>
            </a:r>
          </a:p>
          <a:p>
            <a:pPr>
              <a:spcAft>
                <a:spcPts val="400"/>
              </a:spcAft>
              <a:defRPr sz="1100"/>
            </a:pPr>
            <a:r>
              <a:t>▸ Establish interstate API registry</a:t>
            </a:r>
          </a:p>
          <a:p>
            <a:pPr>
              <a:spcAft>
                <a:spcPts val="400"/>
              </a:spcAft>
              <a:defRPr sz="1100"/>
            </a:pPr>
            <a:r>
              <a:t>▸ Prioritize RSU deployment on freight corridors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99"/>
                </a:solidFill>
              </a:defRPr>
            </a:pPr>
            <a:r>
              <a:t>Medium-Term (6-18 months)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▸ Deploy AI/ML incident prediction models</a:t>
            </a:r>
          </a:p>
          <a:p>
            <a:pPr>
              <a:spcAft>
                <a:spcPts val="400"/>
              </a:spcAft>
              <a:defRPr sz="1100"/>
            </a:pPr>
            <a:r>
              <a:t>▸ Formalize public-private data sharing agreements</a:t>
            </a:r>
          </a:p>
          <a:p>
            <a:pPr>
              <a:spcAft>
                <a:spcPts val="400"/>
              </a:spcAft>
              <a:defRPr sz="1100"/>
            </a:pPr>
            <a:r>
              <a:t>▸ Expand digital twin capabilities nationwide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99"/>
                </a:solidFill>
              </a:defRPr>
            </a:pPr>
            <a:r>
              <a:t>Long-Term (18+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7955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▸ Define federated data governance model</a:t>
            </a:r>
          </a:p>
          <a:p>
            <a:pPr>
              <a:spcAft>
                <a:spcPts val="400"/>
              </a:spcAft>
              <a:defRPr sz="1100"/>
            </a:pPr>
            <a:r>
              <a:t>▸ Establish cybersecurity standards</a:t>
            </a:r>
          </a:p>
          <a:p>
            <a:pPr>
              <a:spcAft>
                <a:spcPts val="400"/>
              </a:spcAft>
              <a:defRPr sz="1100"/>
            </a:pPr>
            <a:r>
              <a:t>▸ Create Interstate 2.0 performance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DOT Corridor Communicator: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03399"/>
                </a:solidFill>
              </a:defRPr>
            </a:pPr>
            <a:r>
              <a:t>Platform Capabilities Demonstration:</a:t>
            </a:r>
          </a:p>
          <a:p>
            <a:pPr>
              <a:spcAft>
                <a:spcPts val="1200"/>
              </a:spcAft>
              <a:defRPr sz="1600"/>
            </a:pPr>
            <a:r>
              <a:t>🗺️ Real-time interstate incident visualization</a:t>
            </a:r>
          </a:p>
          <a:p>
            <a:pPr>
              <a:spcAft>
                <a:spcPts val="1200"/>
              </a:spcAft>
              <a:defRPr sz="1600"/>
            </a:pPr>
            <a:r>
              <a:t>📡 V2X deployment map (USDOT federal data)</a:t>
            </a:r>
          </a:p>
          <a:p>
            <a:pPr>
              <a:spcAft>
                <a:spcPts val="1200"/>
              </a:spcAft>
              <a:defRPr sz="1600"/>
            </a:pPr>
            <a:r>
              <a:t>🚧 Work zone data exchange viewer</a:t>
            </a:r>
          </a:p>
          <a:p>
            <a:pPr>
              <a:spcAft>
                <a:spcPts val="1200"/>
              </a:spcAft>
              <a:defRPr sz="1600"/>
            </a:pPr>
            <a:r>
              <a:t>🚨 IPAWS emergency alert generation</a:t>
            </a:r>
          </a:p>
          <a:p>
            <a:pPr>
              <a:spcAft>
                <a:spcPts val="1200"/>
              </a:spcAft>
              <a:defRPr sz="1600"/>
            </a:pPr>
            <a:r>
              <a:t>🏗️ Digital infrastructure (IFC/CADD) viewer</a:t>
            </a:r>
          </a:p>
          <a:p>
            <a:pPr>
              <a:spcAft>
                <a:spcPts val="1200"/>
              </a:spcAft>
              <a:defRPr sz="1600"/>
            </a:pPr>
            <a:r>
              <a:t>👥 Population impact analysis</a:t>
            </a:r>
          </a:p>
          <a:p>
            <a:pPr>
              <a:spcAft>
                <a:spcPts val="1200"/>
              </a:spcAft>
              <a:defRPr sz="1600"/>
            </a:pPr>
            <a:r>
              <a:t>📊 Freight TTTR metrics dashboard</a:t>
            </a:r>
          </a:p>
          <a:p>
            <a:br/>
            <a:pPr algn="ctr">
              <a:defRPr sz="1200" i="1">
                <a:solidFill>
                  <a:srgbClr val="808080"/>
                </a:solidFill>
              </a:defRPr>
            </a:pPr>
            <a:r>
              <a:t>[Screenshots will be added here during final formatting]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Contact Information: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Name: [Your Name]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Title: [Your Title]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Email: [Your Email]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Phone: [Your Phone]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C8C8C8"/>
                </a:solidFill>
              </a:defRPr>
            </a:pPr>
            <a:r>
              <a:t>Interstate 2.0: Making Our Interstates Great Again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